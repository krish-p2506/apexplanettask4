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ilda Display" charset="1" panose="02000000000000000000"/>
      <p:regular r:id="rId16"/>
    </p:embeddedFont>
    <p:embeddedFont>
      <p:font typeface="HK Grotesk Light" charset="1" panose="00000400000000000000"/>
      <p:regular r:id="rId17"/>
    </p:embeddedFont>
    <p:embeddedFont>
      <p:font typeface="HK Grotesk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15.jpeg" Type="http://schemas.openxmlformats.org/officeDocument/2006/relationships/image"/><Relationship Id="rId7" Target="../media/image16.jpeg" Type="http://schemas.openxmlformats.org/officeDocument/2006/relationships/image"/><Relationship Id="rId8" Target="../media/image1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734675" y="2289626"/>
            <a:ext cx="7379913" cy="3906643"/>
            <a:chOff x="0" y="0"/>
            <a:chExt cx="9839884" cy="520885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344525"/>
              <a:ext cx="9182100" cy="2149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84"/>
                </a:lnSpc>
              </a:pPr>
              <a:r>
                <a:rPr lang="en-US" sz="6084">
                  <a:solidFill>
                    <a:srgbClr val="0F608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Sales &amp; Profitability Optimization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91821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sz="4200">
                  <a:solidFill>
                    <a:srgbClr val="1AA29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Sales Optimization Overview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57784" y="4715039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b="true" sz="2199">
                  <a:solidFill>
                    <a:srgbClr val="33333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By Krish Patel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6886575" cy="5372100"/>
            <a:chOff x="0" y="0"/>
            <a:chExt cx="1200275" cy="936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936314"/>
            </a:xfrm>
            <a:custGeom>
              <a:avLst/>
              <a:gdLst/>
              <a:ahLst/>
              <a:cxnLst/>
              <a:rect r="r" b="b" t="t" l="l"/>
              <a:pathLst>
                <a:path h="936314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891345"/>
                  </a:lnTo>
                  <a:cubicBezTo>
                    <a:pt x="1200275" y="903272"/>
                    <a:pt x="1195537" y="914710"/>
                    <a:pt x="1187104" y="923143"/>
                  </a:cubicBezTo>
                  <a:cubicBezTo>
                    <a:pt x="1178670" y="931576"/>
                    <a:pt x="1167233" y="936314"/>
                    <a:pt x="1155306" y="936314"/>
                  </a:cubicBezTo>
                  <a:lnTo>
                    <a:pt x="44968" y="936314"/>
                  </a:lnTo>
                  <a:cubicBezTo>
                    <a:pt x="33042" y="936314"/>
                    <a:pt x="21604" y="931576"/>
                    <a:pt x="13171" y="923143"/>
                  </a:cubicBezTo>
                  <a:cubicBezTo>
                    <a:pt x="4738" y="914710"/>
                    <a:pt x="0" y="903272"/>
                    <a:pt x="0" y="89134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85" t="0" r="-8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838200"/>
            <a:ext cx="6886575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0F6086"/>
                </a:solidFill>
                <a:latin typeface="Gilda Display"/>
                <a:ea typeface="Gilda Display"/>
                <a:cs typeface="Gilda Display"/>
                <a:sym typeface="Gilda Display"/>
              </a:rPr>
              <a:t>Key Business Challenges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7829550"/>
            <a:ext cx="6886575" cy="940181"/>
            <a:chOff x="0" y="0"/>
            <a:chExt cx="9182100" cy="125357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1AA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Revenue vs. Profit Issues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79653"/>
              <a:ext cx="9182100" cy="473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</a:pPr>
              <a:r>
                <a:rPr lang="en-US" sz="2199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Revenue is strong; profit remains inconsistent.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5812" y="4549131"/>
            <a:ext cx="6886575" cy="573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147" indent="-367073" lvl="1">
              <a:lnSpc>
                <a:spcPts val="3400"/>
              </a:lnSpc>
              <a:buFont typeface="Arial"/>
              <a:buChar char="•"/>
            </a:pPr>
            <a:r>
              <a:rPr lang="en-US" sz="3400">
                <a:solidFill>
                  <a:srgbClr val="0F6086"/>
                </a:solidFill>
                <a:latin typeface="Gilda Display"/>
                <a:ea typeface="Gilda Display"/>
                <a:cs typeface="Gilda Display"/>
                <a:sym typeface="Gilda Display"/>
              </a:rPr>
              <a:t>Revenue is strong but profit is inconsistent.</a:t>
            </a:r>
          </a:p>
          <a:p>
            <a:pPr algn="l">
              <a:lnSpc>
                <a:spcPts val="3400"/>
              </a:lnSpc>
            </a:pPr>
          </a:p>
          <a:p>
            <a:pPr algn="l" marL="734147" indent="-367073" lvl="1">
              <a:lnSpc>
                <a:spcPts val="3400"/>
              </a:lnSpc>
              <a:buFont typeface="Arial"/>
              <a:buChar char="•"/>
            </a:pPr>
            <a:r>
              <a:rPr lang="en-US" sz="3400">
                <a:solidFill>
                  <a:srgbClr val="0F6086"/>
                </a:solidFill>
                <a:latin typeface="Gilda Display"/>
                <a:ea typeface="Gilda Display"/>
                <a:cs typeface="Gilda Display"/>
                <a:sym typeface="Gilda Display"/>
              </a:rPr>
              <a:t>Certain regions and categories underperform.</a:t>
            </a:r>
          </a:p>
          <a:p>
            <a:pPr algn="l">
              <a:lnSpc>
                <a:spcPts val="3400"/>
              </a:lnSpc>
            </a:pPr>
          </a:p>
          <a:p>
            <a:pPr algn="l" marL="734147" indent="-367073" lvl="1">
              <a:lnSpc>
                <a:spcPts val="3400"/>
              </a:lnSpc>
              <a:buFont typeface="Arial"/>
              <a:buChar char="•"/>
            </a:pPr>
            <a:r>
              <a:rPr lang="en-US" sz="3400">
                <a:solidFill>
                  <a:srgbClr val="0F6086"/>
                </a:solidFill>
                <a:latin typeface="Gilda Display"/>
                <a:ea typeface="Gilda Display"/>
                <a:cs typeface="Gilda Display"/>
                <a:sym typeface="Gilda Display"/>
              </a:rPr>
              <a:t>Aggressive discounting may be reducing margins.</a:t>
            </a:r>
          </a:p>
          <a:p>
            <a:pPr algn="l">
              <a:lnSpc>
                <a:spcPts val="3400"/>
              </a:lnSpc>
            </a:pPr>
          </a:p>
          <a:p>
            <a:pPr algn="l" marL="734147" indent="-367073" lvl="1">
              <a:lnSpc>
                <a:spcPts val="3400"/>
              </a:lnSpc>
              <a:buFont typeface="Arial"/>
              <a:buChar char="•"/>
            </a:pPr>
            <a:r>
              <a:rPr lang="en-US" sz="3400">
                <a:solidFill>
                  <a:srgbClr val="0F6086"/>
                </a:solidFill>
                <a:latin typeface="Gilda Display"/>
                <a:ea typeface="Gilda Display"/>
                <a:cs typeface="Gilda Display"/>
                <a:sym typeface="Gilda Display"/>
              </a:rPr>
              <a:t>Business needs data-driven pricing optimization.</a:t>
            </a:r>
          </a:p>
          <a:p>
            <a:pPr algn="l" marL="0" indent="0" lvl="0">
              <a:lnSpc>
                <a:spcPts val="74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6886575" cy="5372100"/>
            <a:chOff x="0" y="0"/>
            <a:chExt cx="1200275" cy="936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936314"/>
            </a:xfrm>
            <a:custGeom>
              <a:avLst/>
              <a:gdLst/>
              <a:ahLst/>
              <a:cxnLst/>
              <a:rect r="r" b="b" t="t" l="l"/>
              <a:pathLst>
                <a:path h="936314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891345"/>
                  </a:lnTo>
                  <a:cubicBezTo>
                    <a:pt x="1200275" y="903272"/>
                    <a:pt x="1195537" y="914710"/>
                    <a:pt x="1187104" y="923143"/>
                  </a:cubicBezTo>
                  <a:cubicBezTo>
                    <a:pt x="1178670" y="931576"/>
                    <a:pt x="1167233" y="936314"/>
                    <a:pt x="1155306" y="936314"/>
                  </a:cubicBezTo>
                  <a:lnTo>
                    <a:pt x="44968" y="936314"/>
                  </a:lnTo>
                  <a:cubicBezTo>
                    <a:pt x="33042" y="936314"/>
                    <a:pt x="21604" y="931576"/>
                    <a:pt x="13171" y="923143"/>
                  </a:cubicBezTo>
                  <a:cubicBezTo>
                    <a:pt x="4738" y="914710"/>
                    <a:pt x="0" y="903272"/>
                    <a:pt x="0" y="89134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85" t="0" r="-8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838200"/>
            <a:ext cx="6886575" cy="5624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0F6086"/>
                </a:solidFill>
                <a:latin typeface="Gilda Display"/>
                <a:ea typeface="Gilda Display"/>
                <a:cs typeface="Gilda Display"/>
                <a:sym typeface="Gilda Display"/>
              </a:rPr>
              <a:t>Dataset Overview: Sales Transactions Analysis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7829550"/>
            <a:ext cx="6886575" cy="940181"/>
            <a:chOff x="0" y="0"/>
            <a:chExt cx="9182100" cy="125357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1AA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Comprehensive Analysis of Sales Data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79653"/>
              <a:ext cx="9182100" cy="473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</a:pPr>
              <a:r>
                <a:rPr lang="en-US" b="true" sz="2199">
                  <a:solidFill>
                    <a:srgbClr val="33333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9,994 sales transactions</a:t>
              </a:r>
              <a:r>
                <a:rPr lang="en-US" sz="2199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provide valuable insights.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6750" y="7454646"/>
            <a:ext cx="6886575" cy="131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3399"/>
              </a:lnSpc>
              <a:buFont typeface="Arial"/>
              <a:buChar char="•"/>
            </a:pPr>
            <a:r>
              <a:rPr lang="en-US" sz="3399">
                <a:solidFill>
                  <a:srgbClr val="0F6086"/>
                </a:solidFill>
                <a:latin typeface="Gilda Display"/>
                <a:ea typeface="Gilda Display"/>
                <a:cs typeface="Gilda Display"/>
                <a:sym typeface="Gilda Display"/>
              </a:rPr>
              <a:t>Key features: Sales, Profit, Discount, Category, Region, Customer Segment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4194" y="1590578"/>
            <a:ext cx="9577632" cy="6716315"/>
          </a:xfrm>
          <a:custGeom>
            <a:avLst/>
            <a:gdLst/>
            <a:ahLst/>
            <a:cxnLst/>
            <a:rect r="r" b="b" t="t" l="l"/>
            <a:pathLst>
              <a:path h="6716315" w="9577632">
                <a:moveTo>
                  <a:pt x="0" y="0"/>
                </a:moveTo>
                <a:lnTo>
                  <a:pt x="9577632" y="0"/>
                </a:lnTo>
                <a:lnTo>
                  <a:pt x="9577632" y="6716315"/>
                </a:lnTo>
                <a:lnTo>
                  <a:pt x="0" y="6716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324850" cy="4629149"/>
            <a:chOff x="0" y="0"/>
            <a:chExt cx="11099800" cy="617219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543299"/>
              <a:ext cx="11099800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West region has shown </a:t>
              </a:r>
              <a:r>
                <a:rPr lang="en-US" b="true" sz="3000">
                  <a:solidFill>
                    <a:srgbClr val="33333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remarkable profitability</a:t>
              </a:r>
              <a:r>
                <a:rPr lang="en-US" sz="3000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outperforming others significantly, highlighting the need for strategic focus and resource allocation.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0F608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Regional Performance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51098" y="1543038"/>
            <a:ext cx="9676239" cy="6704057"/>
          </a:xfrm>
          <a:custGeom>
            <a:avLst/>
            <a:gdLst/>
            <a:ahLst/>
            <a:cxnLst/>
            <a:rect r="r" b="b" t="t" l="l"/>
            <a:pathLst>
              <a:path h="6704057" w="9676239">
                <a:moveTo>
                  <a:pt x="0" y="0"/>
                </a:moveTo>
                <a:lnTo>
                  <a:pt x="9676239" y="0"/>
                </a:lnTo>
                <a:lnTo>
                  <a:pt x="9676239" y="6704057"/>
                </a:lnTo>
                <a:lnTo>
                  <a:pt x="0" y="6704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5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3734950"/>
            <a:ext cx="8324850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333333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</a:t>
            </a:r>
            <a:r>
              <a:rPr lang="en-US" b="true" sz="3000">
                <a:solidFill>
                  <a:srgbClr val="33333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Technology category</a:t>
            </a:r>
            <a:r>
              <a:rPr lang="en-US" sz="3000">
                <a:solidFill>
                  <a:srgbClr val="333333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consistently outperforms others, driving significant profit margins and necessitating focused strategy adjustments going forward.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838200"/>
            <a:ext cx="832485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0F6086"/>
                </a:solidFill>
                <a:latin typeface="Gilda Display"/>
                <a:ea typeface="Gilda Display"/>
                <a:cs typeface="Gilda Display"/>
                <a:sym typeface="Gilda Display"/>
              </a:rPr>
              <a:t>Category Performance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6344800"/>
            <a:ext cx="8477250" cy="150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557" indent="-329779" lvl="1">
              <a:lnSpc>
                <a:spcPts val="3971"/>
              </a:lnSpc>
              <a:buFont typeface="Arial"/>
              <a:buChar char="•"/>
            </a:pPr>
            <a:r>
              <a:rPr lang="en-US" b="true" sz="3054">
                <a:solidFill>
                  <a:srgbClr val="33333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Furniture</a:t>
            </a:r>
            <a:r>
              <a:rPr lang="en-US" sz="3054">
                <a:solidFill>
                  <a:srgbClr val="333333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generates lower margins.</a:t>
            </a:r>
          </a:p>
          <a:p>
            <a:pPr algn="l" marL="659557" indent="-329779" lvl="1">
              <a:lnSpc>
                <a:spcPts val="3971"/>
              </a:lnSpc>
              <a:buFont typeface="Arial"/>
              <a:buChar char="•"/>
            </a:pPr>
            <a:r>
              <a:rPr lang="en-US" sz="3054">
                <a:solidFill>
                  <a:srgbClr val="333333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Category-level strategy required.</a:t>
            </a:r>
          </a:p>
          <a:p>
            <a:pPr algn="l" marL="0" indent="0" lvl="0">
              <a:lnSpc>
                <a:spcPts val="397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43754" y="6006603"/>
            <a:ext cx="7890615" cy="2446091"/>
          </a:xfrm>
          <a:custGeom>
            <a:avLst/>
            <a:gdLst/>
            <a:ahLst/>
            <a:cxnLst/>
            <a:rect r="r" b="b" t="t" l="l"/>
            <a:pathLst>
              <a:path h="2446091" w="7890615">
                <a:moveTo>
                  <a:pt x="0" y="0"/>
                </a:moveTo>
                <a:lnTo>
                  <a:pt x="7890615" y="0"/>
                </a:lnTo>
                <a:lnTo>
                  <a:pt x="7890615" y="2446091"/>
                </a:lnTo>
                <a:lnTo>
                  <a:pt x="0" y="24460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2639675" cy="2028891"/>
            <a:chOff x="0" y="0"/>
            <a:chExt cx="16852900" cy="270518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0F608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Discount Impact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1AA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Statistical Validation of Pricing Effects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3768228"/>
            <a:ext cx="12639675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333333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High discounts have a </a:t>
            </a:r>
            <a:r>
              <a:rPr lang="en-US" b="true" sz="3000">
                <a:solidFill>
                  <a:srgbClr val="33333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significant negative</a:t>
            </a:r>
            <a:r>
              <a:rPr lang="en-US" sz="3000">
                <a:solidFill>
                  <a:srgbClr val="333333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impact on average profit, as supported by statistical analysis indicating strong evidence against discounting strategies that harm profit margins.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6750" y="4448393"/>
            <a:ext cx="6886575" cy="4020038"/>
          </a:xfrm>
          <a:custGeom>
            <a:avLst/>
            <a:gdLst/>
            <a:ahLst/>
            <a:cxnLst/>
            <a:rect r="r" b="b" t="t" l="l"/>
            <a:pathLst>
              <a:path h="4020038" w="6886575">
                <a:moveTo>
                  <a:pt x="0" y="0"/>
                </a:moveTo>
                <a:lnTo>
                  <a:pt x="6886575" y="0"/>
                </a:lnTo>
                <a:lnTo>
                  <a:pt x="6886575" y="4020039"/>
                </a:lnTo>
                <a:lnTo>
                  <a:pt x="0" y="402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76581" y="1162438"/>
            <a:ext cx="7711717" cy="6079983"/>
          </a:xfrm>
          <a:custGeom>
            <a:avLst/>
            <a:gdLst/>
            <a:ahLst/>
            <a:cxnLst/>
            <a:rect r="r" b="b" t="t" l="l"/>
            <a:pathLst>
              <a:path h="6079983" w="7711717">
                <a:moveTo>
                  <a:pt x="0" y="0"/>
                </a:moveTo>
                <a:lnTo>
                  <a:pt x="7711717" y="0"/>
                </a:lnTo>
                <a:lnTo>
                  <a:pt x="7711717" y="6079984"/>
                </a:lnTo>
                <a:lnTo>
                  <a:pt x="0" y="60799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70" r="0" b="-95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750" y="819150"/>
            <a:ext cx="6886575" cy="338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00"/>
              </a:lnSpc>
            </a:pPr>
            <a:r>
              <a:rPr lang="en-US" sz="8700">
                <a:solidFill>
                  <a:srgbClr val="0F6086"/>
                </a:solidFill>
                <a:latin typeface="Gilda Display"/>
                <a:ea typeface="Gilda Display"/>
                <a:cs typeface="Gilda Display"/>
                <a:sym typeface="Gilda Display"/>
              </a:rPr>
              <a:t>Customer Insights and Segmentation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65873" y="8968583"/>
            <a:ext cx="6886575" cy="940181"/>
            <a:chOff x="0" y="0"/>
            <a:chExt cx="9182100" cy="12535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1AA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High-Value Customers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79653"/>
              <a:ext cx="9182100" cy="473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</a:pPr>
              <a:r>
                <a:rPr lang="en-US" sz="2199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High-value customers are essential for business growth.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7860919"/>
            <a:ext cx="7444092" cy="1397381"/>
            <a:chOff x="0" y="0"/>
            <a:chExt cx="9925456" cy="186317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91821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1AA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Business Segment Customers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89253"/>
              <a:ext cx="9925456" cy="473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</a:pPr>
              <a:r>
                <a:rPr lang="en-US" sz="2199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Some segments show lower engagement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91129" y="999866"/>
            <a:ext cx="9268171" cy="6684669"/>
          </a:xfrm>
          <a:custGeom>
            <a:avLst/>
            <a:gdLst/>
            <a:ahLst/>
            <a:cxnLst/>
            <a:rect r="r" b="b" t="t" l="l"/>
            <a:pathLst>
              <a:path h="6684669" w="9268171">
                <a:moveTo>
                  <a:pt x="0" y="0"/>
                </a:moveTo>
                <a:lnTo>
                  <a:pt x="9268171" y="0"/>
                </a:lnTo>
                <a:lnTo>
                  <a:pt x="9268171" y="6684669"/>
                </a:lnTo>
                <a:lnTo>
                  <a:pt x="0" y="6684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95250" y="7684535"/>
            <a:ext cx="5619330" cy="975876"/>
          </a:xfrm>
          <a:custGeom>
            <a:avLst/>
            <a:gdLst/>
            <a:ahLst/>
            <a:cxnLst/>
            <a:rect r="r" b="b" t="t" l="l"/>
            <a:pathLst>
              <a:path h="975876" w="5619330">
                <a:moveTo>
                  <a:pt x="0" y="0"/>
                </a:moveTo>
                <a:lnTo>
                  <a:pt x="5619330" y="0"/>
                </a:lnTo>
                <a:lnTo>
                  <a:pt x="5619330" y="975876"/>
                </a:lnTo>
                <a:lnTo>
                  <a:pt x="0" y="975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750" y="838200"/>
            <a:ext cx="6886575" cy="450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0F6086"/>
                </a:solidFill>
                <a:latin typeface="Gilda Display"/>
                <a:ea typeface="Gilda Display"/>
                <a:cs typeface="Gilda Display"/>
                <a:sym typeface="Gilda Display"/>
              </a:rPr>
              <a:t>Predictive Modeling Insights for Profitability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30434" y="5830146"/>
            <a:ext cx="6886575" cy="2148586"/>
            <a:chOff x="0" y="0"/>
            <a:chExt cx="9182100" cy="286478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91821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1AA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Non-Linear Profit Influences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89253"/>
              <a:ext cx="9182100" cy="14755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89"/>
                </a:lnSpc>
              </a:pPr>
              <a:r>
                <a:rPr lang="en-US" sz="2299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Evaluating complex factors affecting profit margins.</a:t>
              </a:r>
            </a:p>
            <a:p>
              <a:pPr algn="l" marL="0" indent="0" lvl="0">
                <a:lnSpc>
                  <a:spcPts val="2989"/>
                </a:lnSpc>
              </a:pPr>
            </a:p>
            <a:p>
              <a:pPr algn="l" marL="0" indent="0" lvl="0">
                <a:lnSpc>
                  <a:spcPts val="2989"/>
                </a:lnSpc>
              </a:pPr>
              <a:r>
                <a:rPr lang="en-US" sz="2299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Profitability influenced by non-linear factors.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-9558698" y="-5455141"/>
            <a:ext cx="13768775" cy="12967682"/>
          </a:xfrm>
          <a:custGeom>
            <a:avLst/>
            <a:gdLst/>
            <a:ahLst/>
            <a:cxnLst/>
            <a:rect r="r" b="b" t="t" l="l"/>
            <a:pathLst>
              <a:path h="12967682" w="13768775">
                <a:moveTo>
                  <a:pt x="13768774" y="0"/>
                </a:moveTo>
                <a:lnTo>
                  <a:pt x="0" y="0"/>
                </a:lnTo>
                <a:lnTo>
                  <a:pt x="0" y="12967682"/>
                </a:lnTo>
                <a:lnTo>
                  <a:pt x="13768774" y="12967682"/>
                </a:lnTo>
                <a:lnTo>
                  <a:pt x="137687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15050" y="666750"/>
            <a:ext cx="2876550" cy="2686050"/>
            <a:chOff x="0" y="0"/>
            <a:chExt cx="738346" cy="6894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8346" cy="689449"/>
            </a:xfrm>
            <a:custGeom>
              <a:avLst/>
              <a:gdLst/>
              <a:ahLst/>
              <a:cxnLst/>
              <a:rect r="r" b="b" t="t" l="l"/>
              <a:pathLst>
                <a:path h="689449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1793"/>
                  </a:lnTo>
                  <a:cubicBezTo>
                    <a:pt x="738346" y="641250"/>
                    <a:pt x="690147" y="689449"/>
                    <a:pt x="630690" y="689449"/>
                  </a:cubicBezTo>
                  <a:lnTo>
                    <a:pt x="107656" y="689449"/>
                  </a:lnTo>
                  <a:cubicBezTo>
                    <a:pt x="79104" y="689449"/>
                    <a:pt x="51721" y="678107"/>
                    <a:pt x="31532" y="657917"/>
                  </a:cubicBezTo>
                  <a:cubicBezTo>
                    <a:pt x="11342" y="637728"/>
                    <a:pt x="0" y="610345"/>
                    <a:pt x="0" y="581793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115050" y="5139734"/>
            <a:ext cx="2876550" cy="2689816"/>
            <a:chOff x="0" y="0"/>
            <a:chExt cx="738346" cy="6904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8346" cy="690415"/>
            </a:xfrm>
            <a:custGeom>
              <a:avLst/>
              <a:gdLst/>
              <a:ahLst/>
              <a:cxnLst/>
              <a:rect r="r" b="b" t="t" l="l"/>
              <a:pathLst>
                <a:path h="690415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2760"/>
                  </a:lnTo>
                  <a:cubicBezTo>
                    <a:pt x="738346" y="642216"/>
                    <a:pt x="690147" y="690415"/>
                    <a:pt x="630690" y="690415"/>
                  </a:cubicBezTo>
                  <a:lnTo>
                    <a:pt x="107656" y="690415"/>
                  </a:lnTo>
                  <a:cubicBezTo>
                    <a:pt x="79104" y="690415"/>
                    <a:pt x="51721" y="679073"/>
                    <a:pt x="31532" y="658884"/>
                  </a:cubicBezTo>
                  <a:cubicBezTo>
                    <a:pt x="11342" y="638694"/>
                    <a:pt x="0" y="611312"/>
                    <a:pt x="0" y="582760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5"/>
              <a:stretch>
                <a:fillRect l="-4" t="0" r="-4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429875" y="666750"/>
            <a:ext cx="2876550" cy="2686050"/>
            <a:chOff x="0" y="0"/>
            <a:chExt cx="738346" cy="6894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8346" cy="689449"/>
            </a:xfrm>
            <a:custGeom>
              <a:avLst/>
              <a:gdLst/>
              <a:ahLst/>
              <a:cxnLst/>
              <a:rect r="r" b="b" t="t" l="l"/>
              <a:pathLst>
                <a:path h="689449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1793"/>
                  </a:lnTo>
                  <a:cubicBezTo>
                    <a:pt x="738346" y="641250"/>
                    <a:pt x="690147" y="689449"/>
                    <a:pt x="630690" y="689449"/>
                  </a:cubicBezTo>
                  <a:lnTo>
                    <a:pt x="107656" y="689449"/>
                  </a:lnTo>
                  <a:cubicBezTo>
                    <a:pt x="79104" y="689449"/>
                    <a:pt x="51721" y="678107"/>
                    <a:pt x="31532" y="657917"/>
                  </a:cubicBezTo>
                  <a:cubicBezTo>
                    <a:pt x="11342" y="637728"/>
                    <a:pt x="0" y="610345"/>
                    <a:pt x="0" y="581793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65" r="0" b="-6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429875" y="5139734"/>
            <a:ext cx="2876550" cy="2689816"/>
            <a:chOff x="0" y="0"/>
            <a:chExt cx="738346" cy="6904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8346" cy="690415"/>
            </a:xfrm>
            <a:custGeom>
              <a:avLst/>
              <a:gdLst/>
              <a:ahLst/>
              <a:cxnLst/>
              <a:rect r="r" b="b" t="t" l="l"/>
              <a:pathLst>
                <a:path h="690415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2760"/>
                  </a:lnTo>
                  <a:cubicBezTo>
                    <a:pt x="738346" y="642216"/>
                    <a:pt x="690147" y="690415"/>
                    <a:pt x="630690" y="690415"/>
                  </a:cubicBezTo>
                  <a:lnTo>
                    <a:pt x="107656" y="690415"/>
                  </a:lnTo>
                  <a:cubicBezTo>
                    <a:pt x="79104" y="690415"/>
                    <a:pt x="51721" y="679073"/>
                    <a:pt x="31532" y="658884"/>
                  </a:cubicBezTo>
                  <a:cubicBezTo>
                    <a:pt x="11342" y="638694"/>
                    <a:pt x="0" y="611312"/>
                    <a:pt x="0" y="582760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7"/>
              <a:stretch>
                <a:fillRect l="-4" t="0" r="-4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4744700" y="666750"/>
            <a:ext cx="2876550" cy="2722157"/>
            <a:chOff x="0" y="0"/>
            <a:chExt cx="738346" cy="6987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8346" cy="698717"/>
            </a:xfrm>
            <a:custGeom>
              <a:avLst/>
              <a:gdLst/>
              <a:ahLst/>
              <a:cxnLst/>
              <a:rect r="r" b="b" t="t" l="l"/>
              <a:pathLst>
                <a:path h="698717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91061"/>
                  </a:lnTo>
                  <a:cubicBezTo>
                    <a:pt x="738346" y="619613"/>
                    <a:pt x="727004" y="646996"/>
                    <a:pt x="706814" y="667185"/>
                  </a:cubicBezTo>
                  <a:cubicBezTo>
                    <a:pt x="686625" y="687374"/>
                    <a:pt x="659242" y="698717"/>
                    <a:pt x="630690" y="698717"/>
                  </a:cubicBezTo>
                  <a:lnTo>
                    <a:pt x="107656" y="698717"/>
                  </a:lnTo>
                  <a:cubicBezTo>
                    <a:pt x="79104" y="698717"/>
                    <a:pt x="51721" y="687374"/>
                    <a:pt x="31532" y="667185"/>
                  </a:cubicBezTo>
                  <a:cubicBezTo>
                    <a:pt x="11342" y="646996"/>
                    <a:pt x="0" y="619613"/>
                    <a:pt x="0" y="591061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8"/>
              <a:stretch>
                <a:fillRect l="-605" t="0" r="-60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115050" y="3632791"/>
            <a:ext cx="2876550" cy="1053628"/>
            <a:chOff x="0" y="0"/>
            <a:chExt cx="3835400" cy="140483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3834751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9"/>
                </a:lnSpc>
                <a:spcBef>
                  <a:spcPct val="0"/>
                </a:spcBef>
              </a:pPr>
              <a:r>
                <a:rPr lang="en-US" b="true" sz="2574">
                  <a:solidFill>
                    <a:srgbClr val="1AA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Optimize Discounts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87060"/>
              <a:ext cx="3835400" cy="717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76"/>
                </a:lnSpc>
              </a:pPr>
              <a:r>
                <a:rPr lang="en-US" sz="1674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Focus on effective pricing to enhance profits.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429875" y="3632791"/>
            <a:ext cx="2876550" cy="1053628"/>
            <a:chOff x="0" y="0"/>
            <a:chExt cx="3835400" cy="140483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3834751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9"/>
                </a:lnSpc>
                <a:spcBef>
                  <a:spcPct val="0"/>
                </a:spcBef>
              </a:pPr>
              <a:r>
                <a:rPr lang="en-US" b="true" sz="2574">
                  <a:solidFill>
                    <a:srgbClr val="1AA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High-Margin Focus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87060"/>
              <a:ext cx="3835400" cy="717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76"/>
                </a:lnSpc>
              </a:pPr>
              <a:r>
                <a:rPr lang="en-US" sz="1674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Prioritize categories with the best profitability margins.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744700" y="3632791"/>
            <a:ext cx="2876550" cy="1053628"/>
            <a:chOff x="0" y="0"/>
            <a:chExt cx="3835400" cy="140483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0"/>
              <a:ext cx="3834751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9"/>
                </a:lnSpc>
                <a:spcBef>
                  <a:spcPct val="0"/>
                </a:spcBef>
              </a:pPr>
              <a:r>
                <a:rPr lang="en-US" b="true" sz="2574">
                  <a:solidFill>
                    <a:srgbClr val="1AA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Strengthen Regions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687060"/>
              <a:ext cx="3835400" cy="717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76"/>
                </a:lnSpc>
              </a:pPr>
              <a:r>
                <a:rPr lang="en-US" sz="1674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Reinforce strategies in areas generating the most profit.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15050" y="8109541"/>
            <a:ext cx="2876550" cy="1053628"/>
            <a:chOff x="0" y="0"/>
            <a:chExt cx="3835400" cy="1404837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0"/>
              <a:ext cx="3834751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9"/>
                </a:lnSpc>
                <a:spcBef>
                  <a:spcPct val="0"/>
                </a:spcBef>
              </a:pPr>
              <a:r>
                <a:rPr lang="en-US" b="true" sz="2574">
                  <a:solidFill>
                    <a:srgbClr val="1AA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Target Customers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687060"/>
              <a:ext cx="3835400" cy="717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76"/>
                </a:lnSpc>
              </a:pPr>
              <a:r>
                <a:rPr lang="en-US" sz="1674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Engage and retain high-value customers effectively.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29875" y="8109541"/>
            <a:ext cx="2876550" cy="1053628"/>
            <a:chOff x="0" y="0"/>
            <a:chExt cx="3835400" cy="1404837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0"/>
              <a:ext cx="3834751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9"/>
                </a:lnSpc>
                <a:spcBef>
                  <a:spcPct val="0"/>
                </a:spcBef>
              </a:pPr>
              <a:r>
                <a:rPr lang="en-US" b="true" sz="2574">
                  <a:solidFill>
                    <a:srgbClr val="1AA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Monitor Segments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687060"/>
              <a:ext cx="3835400" cy="717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76"/>
                </a:lnSpc>
              </a:pPr>
              <a:r>
                <a:rPr lang="en-US" sz="1674">
                  <a:solidFill>
                    <a:srgbClr val="333333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Keep track of underperforming business areas closely.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74064">
            <a:off x="14221481" y="6404997"/>
            <a:ext cx="9086976" cy="8558279"/>
          </a:xfrm>
          <a:custGeom>
            <a:avLst/>
            <a:gdLst/>
            <a:ahLst/>
            <a:cxnLst/>
            <a:rect r="r" b="b" t="t" l="l"/>
            <a:pathLst>
              <a:path h="8558279" w="9086976">
                <a:moveTo>
                  <a:pt x="0" y="0"/>
                </a:moveTo>
                <a:lnTo>
                  <a:pt x="9086976" y="0"/>
                </a:lnTo>
                <a:lnTo>
                  <a:pt x="9086976" y="8558279"/>
                </a:lnTo>
                <a:lnTo>
                  <a:pt x="0" y="8558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248150"/>
            <a:ext cx="16182975" cy="6038850"/>
            <a:chOff x="0" y="0"/>
            <a:chExt cx="217815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8150" cy="812800"/>
            </a:xfrm>
            <a:custGeom>
              <a:avLst/>
              <a:gdLst/>
              <a:ahLst/>
              <a:cxnLst/>
              <a:rect r="r" b="b" t="t" l="l"/>
              <a:pathLst>
                <a:path h="812800" w="2178150">
                  <a:moveTo>
                    <a:pt x="19136" y="0"/>
                  </a:moveTo>
                  <a:lnTo>
                    <a:pt x="2159014" y="0"/>
                  </a:lnTo>
                  <a:cubicBezTo>
                    <a:pt x="2169583" y="0"/>
                    <a:pt x="2178150" y="8567"/>
                    <a:pt x="2178150" y="19136"/>
                  </a:cubicBezTo>
                  <a:lnTo>
                    <a:pt x="2178150" y="793664"/>
                  </a:lnTo>
                  <a:cubicBezTo>
                    <a:pt x="2178150" y="804233"/>
                    <a:pt x="2169583" y="812800"/>
                    <a:pt x="2159014" y="812800"/>
                  </a:cubicBezTo>
                  <a:lnTo>
                    <a:pt x="19136" y="812800"/>
                  </a:lnTo>
                  <a:cubicBezTo>
                    <a:pt x="8567" y="812800"/>
                    <a:pt x="0" y="804233"/>
                    <a:pt x="0" y="793664"/>
                  </a:cubicBezTo>
                  <a:lnTo>
                    <a:pt x="0" y="19136"/>
                  </a:lnTo>
                  <a:cubicBezTo>
                    <a:pt x="0" y="8567"/>
                    <a:pt x="8567" y="0"/>
                    <a:pt x="19136" y="0"/>
                  </a:cubicBezTo>
                  <a:close/>
                </a:path>
              </a:pathLst>
            </a:custGeom>
            <a:blipFill>
              <a:blip r:embed="rId4"/>
              <a:stretch>
                <a:fillRect l="-257" t="0" r="-257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5516225" cy="3162300"/>
            <a:chOff x="0" y="0"/>
            <a:chExt cx="20688300" cy="42164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206883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0F608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Call to Action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78075"/>
              <a:ext cx="20688300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33333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Drive sustainable profitability growth</a:t>
              </a:r>
            </a:p>
            <a:p>
              <a:pPr algn="l" marL="0" indent="0" lvl="0">
                <a:lnSpc>
                  <a:spcPts val="3600"/>
                </a:lnSpc>
              </a:pPr>
            </a:p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33333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Adopt a data-driven pricing and customer strategy to improve sustainable profitability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Sales &amp; Profitability Optimization</dc:description>
  <dc:identifier>DAHC-GbRd_U</dc:identifier>
  <dcterms:modified xsi:type="dcterms:W3CDTF">2011-08-01T06:04:30Z</dcterms:modified>
  <cp:revision>1</cp:revision>
  <dc:title>Presentation - Sales &amp; Profitability Optimization</dc:title>
</cp:coreProperties>
</file>